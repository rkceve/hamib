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432000"/>
            <a:ext cx="43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63A2B"/>
                </a:solidFill>
                <a:latin typeface="Yu Gothic UI"/>
                <a:ea typeface="Yu Gothic UI"/>
              </a:rPr>
              <a:t>実験状況  2026-09-21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32000" y="432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Yu Gothic UI"/>
                <a:ea typeface="Yu Gothic UI"/>
              </a:rPr>
              <a:t>1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66000"/>
            <a:ext cx="720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  <a:latin typeface="Yu Gothic UI"/>
                <a:ea typeface="Yu Gothic UI"/>
              </a:rPr>
              <a:t>相関図による文脈圧縮  第1回測定の結果と未解決の問題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44000"/>
            <a:ext cx="961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Yu Gothic UI"/>
                <a:ea typeface="Yu Gothic UI"/>
              </a:rPr>
              <a:t>読み手 Qwen3.8-27B (量子化なし) / A100 80GB / 実機開発セッション 17.9万トークン・36往復 / 96問 (事実88 + 答えが載っていない8)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278000"/>
            <a:ext cx="9612000" cy="3600"/>
          </a:xfrm>
          <a:prstGeom prst="rect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404000"/>
            <a:ext cx="460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Yu Gothic UI"/>
                <a:ea typeface="Yu Gothic UI"/>
              </a:rPr>
              <a:t>1. 実際のスコア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6740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98781"/>
                </a:solidFill>
                <a:latin typeface="Yu Gothic UI"/>
                <a:ea typeface="Yu Gothic UI"/>
              </a:rPr>
              <a:t>窓の大きさ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16740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98781"/>
                </a:solidFill>
                <a:latin typeface="Yu Gothic UI"/>
                <a:ea typeface="Yu Gothic UI"/>
              </a:rPr>
              <a:t>下駄なし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4000" y="16740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98781"/>
                </a:solidFill>
                <a:latin typeface="Yu Gothic UI"/>
                <a:ea typeface="Yu Gothic UI"/>
              </a:rPr>
              <a:t>強さ0.1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8000" y="16740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98781"/>
                </a:solidFill>
                <a:latin typeface="Yu Gothic UI"/>
                <a:ea typeface="Yu Gothic UI"/>
              </a:rPr>
              <a:t>強さ0.3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2000" y="16740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98781"/>
                </a:solidFill>
                <a:latin typeface="Yu Gothic UI"/>
                <a:ea typeface="Yu Gothic UI"/>
              </a:rPr>
              <a:t>強さ1.0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1861200"/>
            <a:ext cx="4608000" cy="36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1911600"/>
            <a:ext cx="1008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Yu Gothic UI"/>
                <a:ea typeface="Yu Gothic UI"/>
              </a:rPr>
              <a:t>8,000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0000" y="19116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0">
                <a:solidFill>
                  <a:srgbClr val="1A1A1A"/>
                </a:solidFill>
                <a:latin typeface="Yu Gothic UI"/>
                <a:ea typeface="Yu Gothic UI"/>
              </a:rPr>
              <a:t>29</a:t>
            </a:r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 /96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4000" y="19116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0">
                <a:solidFill>
                  <a:srgbClr val="1A1A1A"/>
                </a:solidFill>
                <a:latin typeface="Yu Gothic UI"/>
                <a:ea typeface="Yu Gothic UI"/>
              </a:rPr>
              <a:t>29</a:t>
            </a:r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 /96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8000" y="19116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0">
                <a:solidFill>
                  <a:srgbClr val="1A1A1A"/>
                </a:solidFill>
                <a:latin typeface="Yu Gothic UI"/>
                <a:ea typeface="Yu Gothic UI"/>
              </a:rPr>
              <a:t>24</a:t>
            </a:r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 /96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2000" y="19116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0">
                <a:solidFill>
                  <a:srgbClr val="1A1A1A"/>
                </a:solidFill>
                <a:latin typeface="Yu Gothic UI"/>
                <a:ea typeface="Yu Gothic UI"/>
              </a:rPr>
              <a:t>18</a:t>
            </a:r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 /96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2106000"/>
            <a:ext cx="4608000" cy="36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2142000"/>
            <a:ext cx="1008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Yu Gothic UI"/>
                <a:ea typeface="Yu Gothic UI"/>
              </a:rPr>
              <a:t>16,000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0000" y="21420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0">
                <a:solidFill>
                  <a:srgbClr val="1A1A1A"/>
                </a:solidFill>
                <a:latin typeface="Yu Gothic UI"/>
                <a:ea typeface="Yu Gothic UI"/>
              </a:rPr>
              <a:t>41</a:t>
            </a:r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 /96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4000" y="21420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0">
                <a:solidFill>
                  <a:srgbClr val="1A1A1A"/>
                </a:solidFill>
                <a:latin typeface="Yu Gothic UI"/>
                <a:ea typeface="Yu Gothic UI"/>
              </a:rPr>
              <a:t>41</a:t>
            </a:r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 /96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8000" y="21420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0">
                <a:solidFill>
                  <a:srgbClr val="1A1A1A"/>
                </a:solidFill>
                <a:latin typeface="Yu Gothic UI"/>
                <a:ea typeface="Yu Gothic UI"/>
              </a:rPr>
              <a:t>33</a:t>
            </a:r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 /96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2000" y="21420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0">
                <a:solidFill>
                  <a:srgbClr val="1A1A1A"/>
                </a:solidFill>
                <a:latin typeface="Yu Gothic UI"/>
                <a:ea typeface="Yu Gothic UI"/>
              </a:rPr>
              <a:t>20</a:t>
            </a:r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 /96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2336400"/>
            <a:ext cx="4608000" cy="36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000" y="2372400"/>
            <a:ext cx="1008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Yu Gothic UI"/>
                <a:ea typeface="Yu Gothic UI"/>
              </a:rPr>
              <a:t>32,000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0000" y="23724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>
                <a:solidFill>
                  <a:srgbClr val="2A78D6"/>
                </a:solidFill>
                <a:latin typeface="Yu Gothic UI"/>
                <a:ea typeface="Yu Gothic UI"/>
              </a:rPr>
              <a:t>63</a:t>
            </a:r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 /96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4000" y="23724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>
                <a:solidFill>
                  <a:srgbClr val="2A78D6"/>
                </a:solidFill>
                <a:latin typeface="Yu Gothic UI"/>
                <a:ea typeface="Yu Gothic UI"/>
              </a:rPr>
              <a:t>63</a:t>
            </a:r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 /96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8000" y="23724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0">
                <a:solidFill>
                  <a:srgbClr val="1A1A1A"/>
                </a:solidFill>
                <a:latin typeface="Yu Gothic UI"/>
                <a:ea typeface="Yu Gothic UI"/>
              </a:rPr>
              <a:t>58</a:t>
            </a:r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 /96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12000" y="23724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0">
                <a:solidFill>
                  <a:srgbClr val="1A1A1A"/>
                </a:solidFill>
                <a:latin typeface="Yu Gothic UI"/>
                <a:ea typeface="Yu Gothic UI"/>
              </a:rPr>
              <a:t>27</a:t>
            </a:r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 /96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2566800"/>
            <a:ext cx="4608000" cy="36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0000" y="2656800"/>
            <a:ext cx="4608000" cy="306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000" y="2714400"/>
            <a:ext cx="1008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Yu Gothic UI"/>
                <a:ea typeface="Yu Gothic UI"/>
              </a:rPr>
              <a:t>全文読み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0000" y="2714400"/>
            <a:ext cx="8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>
                <a:solidFill>
                  <a:srgbClr val="1A1A1A"/>
                </a:solidFill>
                <a:latin typeface="Yu Gothic UI"/>
                <a:ea typeface="Yu Gothic UI"/>
              </a:rPr>
              <a:t>94</a:t>
            </a:r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 /96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4000" y="2725200"/>
            <a:ext cx="26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2514E"/>
                </a:solidFill>
                <a:latin typeface="Yu Gothic UI"/>
                <a:ea typeface="Yu Gothic UI"/>
              </a:rPr>
              <a:t>17.9万トークンを毎回読む基準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" y="3124800"/>
            <a:ext cx="4608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Yu Gothic UI"/>
                <a:ea typeface="Yu Gothic UI"/>
              </a:rPr>
              <a:t>1問あたりの計算量  (最良条件 / 基準)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" y="3358800"/>
            <a:ext cx="93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Yu Gothic UI"/>
                <a:ea typeface="Yu Gothic UI"/>
              </a:rPr>
              <a:t>指示文トークン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12000" y="3391200"/>
            <a:ext cx="1656000" cy="86400"/>
          </a:xfrm>
          <a:prstGeom prst="rect">
            <a:avLst/>
          </a:prstGeom>
          <a:solidFill>
            <a:srgbClr val="CF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12000" y="3391200"/>
            <a:ext cx="295200" cy="86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58000" y="3358800"/>
            <a:ext cx="93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2A78D6"/>
                </a:solidFill>
                <a:latin typeface="Yu Gothic UI"/>
                <a:ea typeface="Yu Gothic UI"/>
              </a:rPr>
              <a:t>17.8%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3499200"/>
            <a:ext cx="4608000" cy="12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98781"/>
                </a:solidFill>
                <a:latin typeface="Yu Gothic UI"/>
                <a:ea typeface="Yu Gothic UI"/>
              </a:rPr>
              <a:t>3.2万 / 17.9万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000" y="3625200"/>
            <a:ext cx="93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Yu Gothic UI"/>
                <a:ea typeface="Yu Gothic UI"/>
              </a:rPr>
              <a:t>総演算量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12000" y="3657600"/>
            <a:ext cx="1656000" cy="86400"/>
          </a:xfrm>
          <a:prstGeom prst="rect">
            <a:avLst/>
          </a:prstGeom>
          <a:solidFill>
            <a:srgbClr val="CF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12000" y="3657600"/>
            <a:ext cx="199755" cy="86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58000" y="3625200"/>
            <a:ext cx="93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2A78D6"/>
                </a:solidFill>
                <a:latin typeface="Yu Gothic UI"/>
                <a:ea typeface="Yu Gothic UI"/>
              </a:rPr>
              <a:t>12.1%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000" y="3765600"/>
            <a:ext cx="4608000" cy="12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98781"/>
                </a:solidFill>
                <a:latin typeface="Yu Gothic UI"/>
                <a:ea typeface="Yu Gothic UI"/>
              </a:rPr>
              <a:t>1.93e15 / 1.60e16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0000" y="3891600"/>
            <a:ext cx="93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Yu Gothic UI"/>
                <a:ea typeface="Yu Gothic UI"/>
              </a:rPr>
              <a:t>実時間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12000" y="3924000"/>
            <a:ext cx="1656000" cy="86400"/>
          </a:xfrm>
          <a:prstGeom prst="rect">
            <a:avLst/>
          </a:prstGeom>
          <a:solidFill>
            <a:srgbClr val="CF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512000" y="3924000"/>
            <a:ext cx="81257" cy="86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58000" y="3891600"/>
            <a:ext cx="93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2A78D6"/>
                </a:solidFill>
                <a:latin typeface="Yu Gothic UI"/>
                <a:ea typeface="Yu Gothic UI"/>
              </a:rPr>
              <a:t>4.9%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0000" y="4032000"/>
            <a:ext cx="4608000" cy="12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98781"/>
                </a:solidFill>
                <a:latin typeface="Yu Gothic UI"/>
                <a:ea typeface="Yu Gothic UI"/>
              </a:rPr>
              <a:t>10.8秒 / 220.1秒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0000" y="4158000"/>
            <a:ext cx="93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Yu Gothic UI"/>
                <a:ea typeface="Yu Gothic UI"/>
              </a:rPr>
              <a:t>電力量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12000" y="4190400"/>
            <a:ext cx="1656000" cy="86400"/>
          </a:xfrm>
          <a:prstGeom prst="rect">
            <a:avLst/>
          </a:prstGeom>
          <a:solidFill>
            <a:srgbClr val="CF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12000" y="4190400"/>
            <a:ext cx="78276" cy="86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58000" y="4158000"/>
            <a:ext cx="93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2A78D6"/>
                </a:solidFill>
                <a:latin typeface="Yu Gothic UI"/>
                <a:ea typeface="Yu Gothic UI"/>
              </a:rPr>
              <a:t>4.7%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0000" y="4298400"/>
            <a:ext cx="4608000" cy="12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98781"/>
                </a:solidFill>
                <a:latin typeface="Yu Gothic UI"/>
                <a:ea typeface="Yu Gothic UI"/>
              </a:rPr>
              <a:t>3,093 J / 65,435 J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0000" y="4442400"/>
            <a:ext cx="4608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Yu Gothic UI"/>
                <a:ea typeface="Yu Gothic UI"/>
              </a:rPr>
              <a:t>管理部の構築 1時間45分を96問で割ると1問65.5秒。読み手10.8秒と合わせると76.4秒で、基準220.1秒の34.7%。損益分岐は30問。外部判定の費用は1問1.84セント(基準は0)。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44000" y="1404000"/>
            <a:ext cx="460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Yu Gothic UI"/>
                <a:ea typeface="Yu Gothic UI"/>
              </a:rPr>
              <a:t>2. 証明できたこと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44000" y="1702800"/>
            <a:ext cx="57600" cy="151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88000" y="1674000"/>
            <a:ext cx="44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Yu Gothic UI"/>
                <a:ea typeface="Yu Gothic UI"/>
              </a:rPr>
              <a:t>相関図だけで事実の64%を回収できる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88000" y="1861200"/>
            <a:ext cx="4464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Yu Gothic UI"/>
                <a:ea typeface="Yu Gothic UI"/>
              </a:rPr>
              <a:t>窓3.2万トークンで88問中56問。窓の99.7%が相関図で、生の会話は1往復も入っていない。4時間前の数値 (4440、1/110、2:1 等) を正確に回答。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44000" y="2293200"/>
            <a:ext cx="57600" cy="151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88000" y="2264400"/>
            <a:ext cx="44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Yu Gothic UI"/>
                <a:ea typeface="Yu Gothic UI"/>
              </a:rPr>
              <a:t>窓を広げるほど単調に伸びる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88000" y="2451600"/>
            <a:ext cx="4464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Yu Gothic UI"/>
                <a:ea typeface="Yu Gothic UI"/>
              </a:rPr>
              <a:t>惑星の行 17→56→241 に対し 21→33→56問。伸びは切り捨ての減少で説明できる。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44000" y="2883600"/>
            <a:ext cx="57600" cy="151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88000" y="2854800"/>
            <a:ext cx="44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Yu Gothic UI"/>
                <a:ea typeface="Yu Gothic UI"/>
              </a:rPr>
              <a:t>窓を絞ってもでっち上げは起きない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88000" y="3042000"/>
            <a:ext cx="4464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Yu Gothic UI"/>
                <a:ea typeface="Yu Gothic UI"/>
              </a:rPr>
              <a:t>答えが載っていない8問は、窓8千・1万6千の全条件で8問とも「不明」と正答。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44000" y="3473999"/>
            <a:ext cx="57600" cy="151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88000" y="3445199"/>
            <a:ext cx="44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Yu Gothic UI"/>
                <a:ea typeface="Yu Gothic UI"/>
              </a:rPr>
              <a:t>基準は96問中94問。問題集は健全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88000" y="3632399"/>
            <a:ext cx="4464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Yu Gothic UI"/>
                <a:ea typeface="Yu Gothic UI"/>
              </a:rPr>
              <a:t>落とした2問は長文の言い換えで文字列照合を外れたもの。実質満点。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44000" y="4071600"/>
            <a:ext cx="460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A63A2B"/>
                </a:solidFill>
                <a:latin typeface="Yu Gothic UI"/>
                <a:ea typeface="Yu Gothic UI"/>
              </a:rPr>
              <a:t>3. わかっている問題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44000" y="4352400"/>
            <a:ext cx="57600" cy="151200"/>
          </a:xfrm>
          <a:prstGeom prst="rect">
            <a:avLst/>
          </a:prstGeom>
          <a:solidFill>
            <a:srgbClr val="A6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88000" y="4323600"/>
            <a:ext cx="44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Yu Gothic UI"/>
                <a:ea typeface="Yu Gothic UI"/>
              </a:rPr>
              <a:t>下駄の強さが制御不能  ← 実装の欠陥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88000" y="4510800"/>
            <a:ext cx="4464000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Yu Gothic UI"/>
                <a:ea typeface="Yu Gothic UI"/>
              </a:rPr>
              <a:t>加算値は w × 質量、質量は正規化なしの衛星個数 (0〜43、中央値1、41%が0)。強さ0.1では中央値の惑星に +0.10 しか乗らず出力は下駄なしと文字列まで一致。強さ1.0では最大の惑星に +43 が乗り、注意が e^43 倍に振れて出力が崩壊。有効な設定を一度も試せていない。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44000" y="5097600"/>
            <a:ext cx="57600" cy="151200"/>
          </a:xfrm>
          <a:prstGeom prst="rect">
            <a:avLst/>
          </a:prstGeom>
          <a:solidFill>
            <a:srgbClr val="A6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88000" y="5068799"/>
            <a:ext cx="44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Yu Gothic UI"/>
                <a:ea typeface="Yu Gothic UI"/>
              </a:rPr>
              <a:t>窓に生の会話が入っていない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88000" y="5255999"/>
            <a:ext cx="4464000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Yu Gothic UI"/>
                <a:ea typeface="Yu Gothic UI"/>
              </a:rPr>
              <a:t>相関図が3.3万トークンあり窓を食い尽くす。運用形態 (直前の会話＋相関図) と乖離。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44000" y="5590799"/>
            <a:ext cx="57600" cy="151200"/>
          </a:xfrm>
          <a:prstGeom prst="rect">
            <a:avLst/>
          </a:prstGeom>
          <a:solidFill>
            <a:srgbClr val="A6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88000" y="5561999"/>
            <a:ext cx="4464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Yu Gothic UI"/>
                <a:ea typeface="Yu Gothic UI"/>
              </a:rPr>
              <a:t>負けの主因は情報の欠落ではなく窓の容量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88000" y="5749199"/>
            <a:ext cx="4464000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Yu Gothic UI"/>
                <a:ea typeface="Yu Gothic UI"/>
              </a:rPr>
              <a:t>基準が取れて最良条件が落とした30問のうち26問は相関図に存在。惑星414個中173個が予算超過で切り捨て。88問中80問の答えは相関図に残っている。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0000" y="7056000"/>
            <a:ext cx="9612000" cy="3600"/>
          </a:xfrm>
          <a:prstGeom prst="rect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0000" y="7146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相関図による文脈圧縮 第1回測定｜社内限り・対外配布不可 (明細書に無い実装内容を含む)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72000" y="7146000"/>
            <a:ext cx="10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98781"/>
                </a:solidFill>
                <a:latin typeface="Yu Gothic UI"/>
                <a:ea typeface="Yu Gothic UI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